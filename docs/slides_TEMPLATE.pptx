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0:00-0:30. Say the headline, then stop. Do not read the slide. One breath, then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0:30-1:30. Slowest slide in the deck. Land the human stake before any number. Judges score policy relevance 20% and clarity 15% - both start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1:30-2:30. This slide buys credibility. The "did not do" box pre-empts the first three questions a jury of education people will 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2:30-4:00. THE slide. If they remember one thing, this. Say: every state dashboard ranks districts. Our data says that is the wrong unit.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4:00-5:00. This is the actionable one. Teachers can do something with it on Monday.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5:00-5:50. Equity slide. Ties directly to the handbook question on inequity.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5:50-6:40. The point is disaggregation, not the direction of the gap. Be honest if the effect size is small.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6:40-7:40. This is the 15% cross-dataset criterion, and it is also the answer to "correlation is not causation" - we used the correlation to remove circumstance, not to blame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7:40-8:30. Show the dashboard live if the room allows. Have it already open in a tab.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8:30-9:20. Read the owner names out loud. Specific owners is what separates policy relevance from a wish list. 20% of the score is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9:20-9:50. Naming your own weaknesses first is the strongest move available. It also inoculates you in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9:50-10:00. Say the sentence. Stop talking. Silence is fine. Then take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754880" cy="4754880"/>
          </a:xfrm>
          <a:prstGeom prst="ellipse">
            <a:avLst/>
          </a:prstGeom>
          <a:solidFill>
            <a:srgbClr val="1B5462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206240"/>
            <a:ext cx="2926080" cy="2926080"/>
          </a:xfrm>
          <a:prstGeom prst="ellipse">
            <a:avLst/>
          </a:prstGeom>
          <a:solidFill>
            <a:srgbClr val="1B5462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23444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DATATHON 2026  ·  AKSHARA FOUNDATION  ·  ACSEL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8778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[YOUR HEADLINE CLAIM IN ONE LINE]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77240" y="365760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[Subtitle: the decision your analysis changes, in plain words]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576072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[NAME]  ·  [members]  ·  1 August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6B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3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[Open with the child, not the dataset]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6035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12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[Open on one child in one named GP from your Day-1 lowest district.] Karnataka has not recovered its 2018 arithmetic level; India has. Three regimes sat over these three years: a recovery curriculum, a 223-taluk drought, and an exam system that flipped twice.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397764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23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20.9%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40080" y="4764024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rural Std V children could do division (ASER 2024; India: 30.7%)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566160" y="397764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23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~4.4M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3566160" y="4764024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student-year records in this census, grades 4-6, 3 years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040880" y="1737360"/>
            <a:ext cx="4480560" cy="3977640"/>
          </a:xfrm>
          <a:prstGeom prst="roundRect">
            <a:avLst>
              <a:gd name="adj" fmla="val 1379"/>
            </a:avLst>
          </a:prstGeom>
          <a:solidFill>
            <a:srgbClr val="F6F9F9"/>
          </a:solidFill>
          <a:ln w="12700">
            <a:solidFill>
              <a:srgbClr val="DCEA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0" y="31592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FIGURE HERE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0" y="34518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09_year_grade_heatmap.png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0" y="374446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x year mean score. Use it only if it supports the opening line.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608990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Akshara Foundation competency-based mathematics assessment, Karnataka government schools.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" y="636422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[Lead with why. Emotion before logic. This slide earns you the right to the next ten.]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6B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USED AND WHAT WE CHECKED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3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audited the data before we trusted it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420624" cy="42062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83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43584" y="1755648"/>
            <a:ext cx="4791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[N] student records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43584" y="2075688"/>
            <a:ext cx="47914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[grades 4-6, 3 years, 20 items, 10 competencies. One row per child, finest unit is Gram Panchayat.]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971800"/>
            <a:ext cx="420624" cy="42062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971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43584" y="2944368"/>
            <a:ext cx="4791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external datasets joined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43584" y="3264408"/>
            <a:ext cx="47914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Census 2011 (block), NFHS-5 (district), NFHS-6 (state), ASER 2024, PGI-D 2025-26, UDISE+ 2022-25 (GP), 26-event verified timeline. [DAY1: match rates]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4160520"/>
            <a:ext cx="420624" cy="42062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160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43584" y="4133088"/>
            <a:ext cx="4791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[M] data-quality flags found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43584" y="4453128"/>
            <a:ext cx="47914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[Duplicates, score-column mismatches, GP names under two blocks. All in claims.json.]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92240" y="1783080"/>
            <a:ext cx="5029200" cy="3566160"/>
          </a:xfrm>
          <a:prstGeom prst="roundRect">
            <a:avLst>
              <a:gd name="adj" fmla="val 1538"/>
            </a:avLst>
          </a:prstGeom>
          <a:solidFill>
            <a:srgbClr val="F6F9F9"/>
          </a:solidFill>
          <a:ln w="12700">
            <a:solidFill>
              <a:srgbClr val="DCEA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0" y="19659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DELIBERATELY DID NOT DO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784848" y="2395728"/>
            <a:ext cx="4443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causation from geography.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784848" y="2688336"/>
            <a:ext cx="44439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association is reported as an association.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784848" y="3328416"/>
            <a:ext cx="4443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schools.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784848" y="3621024"/>
            <a:ext cx="44439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carries no school identifier, by design. We respect that.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784848" y="4261104"/>
            <a:ext cx="4443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low scores as bad teaching.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784848" y="4553712"/>
            <a:ext cx="44439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control for conditions before judging performance.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0080" y="608990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method: report.pdf section 2. Reproducible via src/run_all.py, fixed seed.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6B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3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[The learning gap lives inside districts]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6400800" cy="3127248"/>
          </a:xfrm>
          <a:prstGeom prst="roundRect">
            <a:avLst>
              <a:gd name="adj" fmla="val 1754"/>
            </a:avLst>
          </a:prstGeom>
          <a:solidFill>
            <a:srgbClr val="F6F9F9"/>
          </a:solidFill>
          <a:ln w="12700">
            <a:solidFill>
              <a:srgbClr val="DCEA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734056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FIGURE HERE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3026664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01_variance_signature.png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3319272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variation in student scores at each administrative tier.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60920" y="1783080"/>
            <a:ext cx="4160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12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[X]% of all variation in learning lives within Gram Panchayats.
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2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[Y]% lies between districts.
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6B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call the cumulative figure the Targeting Efficiency Ceiling: the most of the learning gap any district-level scheme could possibly reach, even if perfectly executed.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5010912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123B47"/>
          </a:solidFill>
          <a:ln/>
        </p:spPr>
      </p:sp>
      <p:sp>
        <p:nvSpPr>
          <p:cNvPr id="10" name="Text 8"/>
          <p:cNvSpPr/>
          <p:nvPr/>
        </p:nvSpPr>
        <p:spPr>
          <a:xfrm>
            <a:off x="896112" y="5102352"/>
            <a:ext cx="103692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[District-level targeting has a hard ceiling of ~X%. Money spent choosing districts is money not spent reaching classrooms.]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608990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outputs/tables/variance_signature.csv · targeting_efficiency_ceiling.csv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6B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3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[One competency gates everything after it]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6949440" cy="3127248"/>
          </a:xfrm>
          <a:prstGeom prst="roundRect">
            <a:avLst>
              <a:gd name="adj" fmla="val 1754"/>
            </a:avLst>
          </a:prstGeom>
          <a:solidFill>
            <a:srgbClr val="F6F9F9"/>
          </a:solidFill>
          <a:ln w="12700">
            <a:solidFill>
              <a:srgbClr val="DCEA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73405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FIGURE HERE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302666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02_competency_bottleneck.png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3319272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Bars: mastery rate. Line: gate lift - how strongly this competency predicts mastery of harder ones.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863840" y="1783080"/>
            <a:ext cx="3657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 Score
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i="1" dirty="0">
                <a:solidFill>
                  <a:srgbClr val="12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lift  x  (1 − current mastery)
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2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[Competency name] is the binding constraint: only [X]% have it, and having it lifts mastery of harder competencies by [Y] percentage points.
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i="1" dirty="0">
                <a:solidFill>
                  <a:srgbClr val="6B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the next topic to children who do not have this one is wasted instruction time.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5010912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123B47"/>
          </a:solidFill>
          <a:ln/>
        </p:spPr>
      </p:sp>
      <p:sp>
        <p:nvSpPr>
          <p:cNvPr id="10" name="Text 8"/>
          <p:cNvSpPr/>
          <p:nvPr/>
        </p:nvSpPr>
        <p:spPr>
          <a:xfrm>
            <a:off x="896112" y="5102352"/>
            <a:ext cx="103692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[Sequence the remedial block around this one competency first. Name the grade, the term and who delivers it.]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608990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outputs/tables/competency_bottleneck.csv · competency_prerequisite_pairs.csv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6B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3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[Averages rose. The weakest children did not move.]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852160" cy="3127248"/>
          </a:xfrm>
          <a:prstGeom prst="roundRect">
            <a:avLst>
              <a:gd name="adj" fmla="val 1754"/>
            </a:avLst>
          </a:prstGeom>
          <a:solidFill>
            <a:srgbClr val="F6F9F9"/>
          </a:solidFill>
          <a:ln w="12700">
            <a:solidFill>
              <a:srgbClr val="DCEA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734056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FIGURE HERE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3026664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05_floor_vs_mean.png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3319272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in mean vs change in the 10th percentile. Below the diagonal = growth that skipped the bottom.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0" y="1755648"/>
            <a:ext cx="420624" cy="42062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0" y="1755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461504" y="1728216"/>
            <a:ext cx="4059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Floor Index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461504" y="2048256"/>
            <a:ext cx="40599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at the 10th percentile, not the mean. It is the number that tells you whether the children furthest behind moved.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0" y="2816352"/>
            <a:ext cx="420624" cy="42062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0" y="28163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461504" y="2788920"/>
            <a:ext cx="4059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[K] districts improved on average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461504" y="3108960"/>
            <a:ext cx="40599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[but their floor fell or stalled. Name two.]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0" y="3877056"/>
            <a:ext cx="420624" cy="42062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0" y="3877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461504" y="3849624"/>
            <a:ext cx="4059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[J] districts raised the floor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461504" y="4169664"/>
            <a:ext cx="40599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[These are the real successes. Name them.]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5010912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123B47"/>
          </a:solidFill>
          <a:ln/>
        </p:spPr>
      </p:sp>
      <p:sp>
        <p:nvSpPr>
          <p:cNvPr id="21" name="Text 19"/>
          <p:cNvSpPr/>
          <p:nvPr/>
        </p:nvSpPr>
        <p:spPr>
          <a:xfrm>
            <a:off x="896112" y="5102352"/>
            <a:ext cx="103692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[Report the floor alongside the mean in every state review. A district can look like it is improving while its weakest children stand still.]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608990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outputs/tables/floor_index_district.csv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6B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3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[The gender gap changes sign as questions get harder]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6766560" cy="3127248"/>
          </a:xfrm>
          <a:prstGeom prst="roundRect">
            <a:avLst>
              <a:gd name="adj" fmla="val 1754"/>
            </a:avLst>
          </a:prstGeom>
          <a:solidFill>
            <a:srgbClr val="F6F9F9"/>
          </a:solidFill>
          <a:ln w="12700">
            <a:solidFill>
              <a:srgbClr val="DCEA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734056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FIGURE HERE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3026664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04_gender_by_competency.png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3319272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Girls minus boys, in percentage points, by competency, ordered easiest to hardest.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680960" y="1783080"/>
            <a:ext cx="38404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1B7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[Girls lead by X pp on foundational competencies.]
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B2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[Boys lead by Y pp on higher-order problem solving.]
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2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headline gender gap would have reported roughly zero and hidden both.
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50" i="1" dirty="0">
                <a:solidFill>
                  <a:srgbClr val="6B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[State the test: p-value and Cohen's d. If the effect is small, say so.]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5010912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123B47"/>
          </a:solidFill>
          <a:ln/>
        </p:spPr>
      </p:sp>
      <p:sp>
        <p:nvSpPr>
          <p:cNvPr id="10" name="Text 8"/>
          <p:cNvSpPr/>
          <p:nvPr/>
        </p:nvSpPr>
        <p:spPr>
          <a:xfrm>
            <a:off x="896112" y="5102352"/>
            <a:ext cx="103692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[Target higher-order problem solving for girls specifically from Grade 5. A single gender-gap number would have told you to do nothing.]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608990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outputs/tables/gender_by_competency.csv · gender_overall.csv · item_analysis.csv (gender DIF)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6B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5  ·  CROSS-DATASET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3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[Some places beat their circumstances]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760720" cy="3127248"/>
          </a:xfrm>
          <a:prstGeom prst="roundRect">
            <a:avLst>
              <a:gd name="adj" fmla="val 1754"/>
            </a:avLst>
          </a:prstGeom>
          <a:solidFill>
            <a:srgbClr val="F6F9F9"/>
          </a:solidFill>
          <a:ln w="12700">
            <a:solidFill>
              <a:srgbClr val="DCEA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734056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FIGURE HERE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3026664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06_bright_spots.png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3319272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vs predicted score. Predicted from Census 2011, NFHS-5 and UDISE+ conditions.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766560" y="1783080"/>
            <a:ext cx="4754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Advantage Residual
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6B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− predicted, where predicted comes from literacy, caste composition, child nutrition, pupil-teacher ratio and school inputs.
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2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Cross-validated R² = [X]. So conditions explain [X]% and leave [1−X]% that is about practice, not circumstance.
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1B7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positive residuals: [name 3 GPs or blocks].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5010912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123B47"/>
          </a:solidFill>
          <a:ln/>
        </p:spPr>
      </p:sp>
      <p:sp>
        <p:nvSpPr>
          <p:cNvPr id="10" name="Text 8"/>
          <p:cNvSpPr/>
          <p:nvPr/>
        </p:nvSpPr>
        <p:spPr>
          <a:xfrm>
            <a:off x="896112" y="5102352"/>
            <a:ext cx="103692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[Send the field team to these [N] places first. The lowest scorers are poor. These ones are doing something you can copy.]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608990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Census 2011 PCA (data.gov.in) · NFHS-5 district fact sheets · UDISE+ 2024-25 · ASER 2024 · PGI-D 2025-26.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6B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3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triage list an education officer can act on Monday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49240" cy="1755648"/>
          </a:xfrm>
          <a:prstGeom prst="roundRect">
            <a:avLst>
              <a:gd name="adj" fmla="val 3125"/>
            </a:avLst>
          </a:prstGeom>
          <a:solidFill>
            <a:srgbClr val="F6F9F9"/>
          </a:solidFill>
          <a:ln w="12700">
            <a:solidFill>
              <a:srgbClr val="DCEA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6596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 Triage Score
</a:t>
            </a:r>
            <a:endParaRPr lang="en-US" sz="1500" dirty="0"/>
          </a:p>
          <a:p>
            <a:pPr indent="0" marL="0">
              <a:buNone/>
            </a:pPr>
            <a:r>
              <a:rPr lang="en-US" sz="13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gap  ×  children affected  ×  tractability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blocks by where effort buys the most learning rather than by raw score. Tractability rises where the shortfall looks like teacher supply or inputs rather than deep poverty alone.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3639312"/>
            <a:ext cx="5349240" cy="1207008"/>
          </a:xfrm>
          <a:prstGeom prst="roundRect">
            <a:avLst>
              <a:gd name="adj" fmla="val 4545"/>
            </a:avLst>
          </a:prstGeom>
          <a:solidFill>
            <a:srgbClr val="F6F9F9"/>
          </a:solidFill>
          <a:ln w="12700">
            <a:solidFill>
              <a:srgbClr val="DCEA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785616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Early-warning model
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[best feature set], CV RMSE [X] pp, precision [P], recall [R]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4315968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[Say plainly whether structural data beat the "same as last year" baseline. If it did not, say so - that is a finding about how much the system already knows.]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0" y="1737360"/>
            <a:ext cx="5120640" cy="3127248"/>
          </a:xfrm>
          <a:prstGeom prst="roundRect">
            <a:avLst>
              <a:gd name="adj" fmla="val 1754"/>
            </a:avLst>
          </a:prstGeom>
          <a:solidFill>
            <a:srgbClr val="F6F9F9"/>
          </a:solidFill>
          <a:ln w="12700">
            <a:solidFill>
              <a:srgbClr val="DCEA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0" y="273405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FIGURE HERE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302666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07_triage.png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331927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25 blocks by triage priority. Live and filterable in dashboard.html.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5010912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123B47"/>
          </a:solidFill>
          <a:ln/>
        </p:spPr>
      </p:sp>
      <p:sp>
        <p:nvSpPr>
          <p:cNvPr id="15" name="Text 13"/>
          <p:cNvSpPr/>
          <p:nvPr/>
        </p:nvSpPr>
        <p:spPr>
          <a:xfrm>
            <a:off x="896112" y="5102352"/>
            <a:ext cx="103692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[One HTML file, no login, no licence. Runs from the repo in under 3 minutes.]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608990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outputs/dashboard.html · outputs/tables/triage_block.csv · early_warning_watchlist_block.csv · model_card.json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3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RECOMMEND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things, each with an owner and a date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1234440"/>
          </a:xfrm>
          <a:prstGeom prst="roundRect">
            <a:avLst>
              <a:gd name="adj" fmla="val 4444"/>
            </a:avLst>
          </a:prstGeom>
          <a:solidFill>
            <a:srgbClr val="1B5462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231136"/>
            <a:ext cx="438912" cy="43891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311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54480" y="2011680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targeting from district to cluster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54480" y="2432304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[What changes, by when, at what cost]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498080" y="221284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[Owner: DSERT / DDPI]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246120"/>
            <a:ext cx="10881360" cy="1234440"/>
          </a:xfrm>
          <a:prstGeom prst="roundRect">
            <a:avLst>
              <a:gd name="adj" fmla="val 4444"/>
            </a:avLst>
          </a:prstGeom>
          <a:solidFill>
            <a:srgbClr val="1B5462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3648456"/>
            <a:ext cx="438912" cy="43891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6484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54480" y="3429000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remediation on [competency]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54480" y="3849624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[Which grade, which term, how measured]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498080" y="363016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[Owner: BRC / CRP cadre]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663440"/>
            <a:ext cx="10881360" cy="1234440"/>
          </a:xfrm>
          <a:prstGeom prst="roundRect">
            <a:avLst>
              <a:gd name="adj" fmla="val 4444"/>
            </a:avLst>
          </a:prstGeom>
          <a:solidFill>
            <a:srgbClr val="1B5462"/>
          </a:solidFill>
          <a:ln/>
        </p:spPr>
      </p:sp>
      <p:sp>
        <p:nvSpPr>
          <p:cNvPr id="17" name="Shape 15"/>
          <p:cNvSpPr/>
          <p:nvPr/>
        </p:nvSpPr>
        <p:spPr>
          <a:xfrm>
            <a:off x="914400" y="5065776"/>
            <a:ext cx="438912" cy="43891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50657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554480" y="4846320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the Floor Index in every review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554480" y="5266944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[One column added to an existing report]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498080" y="504748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[Owner: Samagra Shiksha MIS]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6B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COULD BE WRONG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3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things we would check before acting on this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1691640"/>
          </a:xfrm>
          <a:prstGeom prst="roundRect">
            <a:avLst>
              <a:gd name="adj" fmla="val 3243"/>
            </a:avLst>
          </a:prstGeom>
          <a:solidFill>
            <a:srgbClr val="F6F9F9"/>
          </a:solidFill>
          <a:ln w="12700">
            <a:solidFill>
              <a:srgbClr val="DCEA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6596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school identifier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914400" y="2359152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design. So we cannot separate a weak school from a weak community. All within-GP variation is unattributed.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63640" y="1783080"/>
            <a:ext cx="5349240" cy="1691640"/>
          </a:xfrm>
          <a:prstGeom prst="roundRect">
            <a:avLst>
              <a:gd name="adj" fmla="val 3243"/>
            </a:avLst>
          </a:prstGeom>
          <a:solidFill>
            <a:srgbClr val="F6F9F9"/>
          </a:solidFill>
          <a:ln w="12700">
            <a:solidFill>
              <a:srgbClr val="DCEA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196596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Covariate vintage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537960" y="2359152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Census is 2011, NFHS-5 is 2019-21, assessment is [years]. We treat these as slow-moving structural conditions, not contemporaneous controls.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3794760"/>
            <a:ext cx="5349240" cy="1691640"/>
          </a:xfrm>
          <a:prstGeom prst="roundRect">
            <a:avLst>
              <a:gd name="adj" fmla="val 3243"/>
            </a:avLst>
          </a:prstGeom>
          <a:solidFill>
            <a:srgbClr val="F6F9F9"/>
          </a:solidFill>
          <a:ln w="12700">
            <a:solidFill>
              <a:srgbClr val="DCEA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97764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same children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14400" y="4370832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Cohorts are synthetic: same place, same cohort, different individuals. Composition can shift.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63640" y="3794760"/>
            <a:ext cx="5349240" cy="1691640"/>
          </a:xfrm>
          <a:prstGeom prst="roundRect">
            <a:avLst>
              <a:gd name="adj" fmla="val 3243"/>
            </a:avLst>
          </a:prstGeom>
          <a:solidFill>
            <a:srgbClr val="F6F9F9"/>
          </a:solidFill>
          <a:ln w="12700">
            <a:solidFill>
              <a:srgbClr val="DCEA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397764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fourth]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537960" y="4370832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[Competency map inferred rather than supplied? Assessment coverage not a random sample? Say it before a judge does.]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080" y="608990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numeric claim in this deck is listed in claims.json with the file and row that proves it.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3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023360"/>
            <a:ext cx="4572000" cy="4572000"/>
          </a:xfrm>
          <a:prstGeom prst="ellipse">
            <a:avLst/>
          </a:prstGeom>
          <a:solidFill>
            <a:srgbClr val="1B5462"/>
          </a:solidFill>
          <a:ln/>
        </p:spPr>
      </p:sp>
      <p:sp>
        <p:nvSpPr>
          <p:cNvPr id="3" name="Text 1"/>
          <p:cNvSpPr/>
          <p:nvPr/>
        </p:nvSpPr>
        <p:spPr>
          <a:xfrm>
            <a:off x="1280160" y="219456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[ONE SENTENCE. THE DECISION YOU WANT MADE.]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280160" y="39776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[Close on the same child you opened with.]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80160" y="59436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C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Repository: [github link]   ·   Team [NAME]   ·   Reproduce with: python src/run_all.py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2026-07-31T08:30:44Z</dcterms:created>
  <dcterms:modified xsi:type="dcterms:W3CDTF">2026-07-31T08:30:44Z</dcterms:modified>
</cp:coreProperties>
</file>