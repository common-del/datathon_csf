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0:00-0:30. Say the headline, then stop. Do not read the slide. One breath, then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0:30-1:30. Slowest slide in the deck. Land the human stake before any number. Judges score policy relevance 20% and clarity 15% - both start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1:30-2:30. This slide buys credibility. The "did not do" box pre-empts the first three questions a jury of education people will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2:30-4:00. THE slide. If they remember one thing, this. Say: every state dashboard ranks districts. Our data says that is the wrong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4:00-5:00. This is the actionable one. Teachers can do something with it on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5:00-5:50. Equity slide. Ties directly to the handbook question on inequity.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5:50-6:40. The point is disaggregation, not the direction of the gap. Be honest if the effect size is small.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6:40-7:40. This is the 15% cross-dataset criterion, and it is also the answer to "correlation is not causation" - we used the correlation to remove circumstance, not to blame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7:40-8:30. Show the dashboard live if the room allows. Have it already open in a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8:30-9:20. Read the owner names out loud. Specific owners is what separates policy relevance from a wish list. 20% of the score is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9:20-9:50. Naming your own weaknesses first is the strongest move available. It also inoculates you in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9:50-10:00. Say the sentence. Stop talking. Silence is fine. Then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1B5462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1B546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344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DATATHON 2026  ·  AKSHARA FOUNDATION  ·  ACSEL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grade 6 collapse is real.</a:t>
            </a:r>
            <a:endParaRPr lang="en-US" sz="4000" dirty="0"/>
          </a:p>
          <a:p>
            <a:r>
              <a:rPr sz="4000">
                <a:latin typeface="Cambria"/>
              </a:rPr>
              <a:t>The grade 4 recovery is not.</a:t>
            </a:r>
          </a:p>
        </p:txBody>
      </p:sp>
      <p:sp>
        <p:nvSpPr>
          <p:cNvPr id="6" name="Text 4"/>
          <p:cNvSpPr/>
          <p:nvPr/>
        </p:nvSpPr>
        <p:spPr>
          <a:xfrm>
            <a:off x="777240" y="36576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remedial block to the multiplicative step in grades 5-6, and never publish a rank without coverage.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57607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datathon_csf  ·  Datathon 2026  ·  1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learns to add. Then we lose her at multiply.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child in a Kalaburagi GP gets 42 of 100 questions right; in Udupi, 74. And the older she gets, the worse it goes: grade 6 multiplication fell from 51% to 35% in three years. The ladder breaks at the multiplicative step, in grades 5 and 6, exactly where PARAKH shows government schools losing to private.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20.9%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47640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rural Std V children could do division (ASER 2024; India: 30.7%)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66160" y="397764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1,379,087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566160" y="47640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 in this census: rural government schools, grades 4-6, three years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040880" y="1737360"/>
            <a:ext cx="4480560" cy="3977640"/>
          </a:xfrm>
          <a:prstGeom prst="roundRect">
            <a:avLst>
              <a:gd name="adj" fmla="val 1379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31592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0" y="34518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0" y="37444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 by grade and year: the gradient inverted.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Akshara Foundation competency-based mathematics assessment, Karnataka government schools.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636422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pic>
        <p:nvPicPr>
          <p:cNvPr id="15" name="Picture 14" descr="09_year_grad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370046"/>
            <a:ext cx="4480560" cy="27122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USED AND WHAT WE CHECKED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audited the data before we trusted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43584" y="175564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1,379,087 student records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43584" y="2075688"/>
            <a:ext cx="4791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4-6, 3 years, 20 items per paper, official per-file competency map. One row per child; duplicates kept by design (no student ID) and logged.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43584" y="294436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external datasets joined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43584" y="3264408"/>
            <a:ext cx="4791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 (block), NFHS-5 (district), NFHS-6 (state), ASER 2024, PGI-D 2025-26, UDISE+ 2022-25 (GP), 26-event verified timeline. [DAY1: match rates]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160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43584" y="413308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joining traps defused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43584" y="4453128"/>
            <a:ext cx="4791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ID is the only canonical key (names repeat); GP and cluster do not nest (1,718 GPs span clusters); external joins refused below 60% match. All logged.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92240" y="1783080"/>
            <a:ext cx="5029200" cy="3566160"/>
          </a:xfrm>
          <a:prstGeom prst="roundRect">
            <a:avLst>
              <a:gd name="adj" fmla="val 1538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965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DELIBERATELY DID NOT DO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84848" y="2395728"/>
            <a:ext cx="4443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causation from geography.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84848" y="2688336"/>
            <a:ext cx="4443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association is reported as an association.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784848" y="3328416"/>
            <a:ext cx="4443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schools.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84848" y="3621024"/>
            <a:ext cx="4443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carries no school identifier, by design. We respect that.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84848" y="4261104"/>
            <a:ext cx="4443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low scores as bad teaching.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84848" y="4553712"/>
            <a:ext cx="4443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control for conditions before judging performance.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method: report.pdf section 2. Reproducible via src/run_all.py, fixed seed.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grade 6 collapse survives every selection test we could throw at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400800" cy="3127248"/>
          </a:xfrm>
          <a:prstGeom prst="roundRect">
            <a:avLst>
              <a:gd name="adj" fmla="val 1754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340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straight from the 9 organiser CSVs by src/figure_g6_collapse.py. Dashed line: the same 2,182 GPs in all three years.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60920" y="1783080"/>
            <a:ext cx="4160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multiplication 51 → 35, division 55 → 38 (raw)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Constant-GP panel: -19.7pp and -22.0pp, worse than raw</a:t>
            </a:r>
            <a:endParaRPr lang="en-US" sz="1500" dirty="0"/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At zero coverage change: -19.3pp. Stable-coverage districts: -18.7pp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Newly reached GPs score HIGHER than veterans (+4.6pp)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And the G4 division 'gain' (+5.6pp) vanishes in the panel (-0.6pp)</a:t>
            </a:r>
          </a:p>
        </p:txBody>
      </p:sp>
      <p:sp>
        <p:nvSpPr>
          <p:cNvPr id="9" name="Shape 7"/>
          <p:cNvSpPr/>
          <p:nvPr/>
        </p:nvSpPr>
        <p:spPr>
          <a:xfrm>
            <a:off x="640080" y="5010912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3B47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5102352"/>
            <a:ext cx="10369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Treat this as real deterioration, not measurement noise. The remedial block belongs at grades 5-6 multiplication-division, starting this academic year.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outputs/tables/hypothesis_menu.csv rows EH1-EH6, EH22  ·  g6_collapse_from_raw.csv  ·  items change yearly: competency-level reading, externally corroborated by ASER and PARAKH</a:t>
            </a:r>
            <a:endParaRPr lang="en-US" sz="900" dirty="0"/>
          </a:p>
        </p:txBody>
      </p:sp>
      <p:pic>
        <p:nvPicPr>
          <p:cNvPr id="12" name="Picture 11" descr="10_g6_col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43239"/>
            <a:ext cx="6400800" cy="27154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Multiplication gates everything after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949440" cy="3127248"/>
          </a:xfrm>
          <a:prstGeom prst="roundRect">
            <a:avLst>
              <a:gd name="adj" fmla="val 1754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3405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Bars: mastery rate. Line: gate lift - how strongly this competency predicts mastery of harder ones.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863840" y="178308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Score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lift  x  (1 − current mastery)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Multiplication: 55.2% mastery, +45.1pp lift to division</a:t>
            </a:r>
            <a:endParaRPr lang="en-US" sz="1400" dirty="0"/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Addition → subtraction lift: +48pp (72% vs 24%)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Division: weakest safe competency at 43.3%</a:t>
            </a:r>
          </a:p>
        </p:txBody>
      </p:sp>
      <p:sp>
        <p:nvSpPr>
          <p:cNvPr id="9" name="Shape 7"/>
          <p:cNvSpPr/>
          <p:nvPr/>
        </p:nvSpPr>
        <p:spPr>
          <a:xfrm>
            <a:off x="640080" y="5010912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3B47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5102352"/>
            <a:ext cx="10369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Sequence Kalika Balavardhane's remedial block: fluency first, then multiplication, then division. Grades 5-6 first. Materials by Term 2, 2026-27.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outputs/tables/competency_bottleneck.csv · competency_prerequisite_pairs.csv</a:t>
            </a:r>
            <a:endParaRPr lang="en-US" sz="900" dirty="0"/>
          </a:p>
        </p:txBody>
      </p:sp>
      <p:pic>
        <p:nvPicPr>
          <p:cNvPr id="12" name="Picture 11" descr="02_competency_bottle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935" y="1737360"/>
            <a:ext cx="6159730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Averages hide the floor, and the floor tracks who shows 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852160" cy="3127248"/>
          </a:xfrm>
          <a:prstGeom prst="roundRect">
            <a:avLst>
              <a:gd name="adj" fmla="val 1754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340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mean vs change in the 10th percentile. Below the diagonal = growth that skipped the bottom.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0" y="1755648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61504" y="172821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Index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61504" y="2048256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at the 10th percentile, not the mean. It is the number that tells you whether the children furthest behind moved.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0" y="281635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461504" y="278892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of 25 districts: floor lagged the mean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61504" y="310896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Mysuru and Kodagu raised the 10th percentile by 5pp.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3877056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877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61504" y="3849624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Divergence -6.4pp where coverage grew fastest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461504" y="4169664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+3.0pp where coverage was stable (r = -0.54). A falling floor in an expanding district is triage, not proof of decline.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10912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3B47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102352"/>
            <a:ext cx="10369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Add two columns to the existing review format: the 10th-percentile score and assessment coverage. Cost: nil. Owner: Samagra Shiksha MIS cell.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outputs/tables/floor_index_district.csv</a:t>
            </a:r>
            <a:endParaRPr lang="en-US" sz="900" dirty="0"/>
          </a:p>
        </p:txBody>
      </p:sp>
      <p:pic>
        <p:nvPicPr>
          <p:cNvPr id="23" name="Picture 22" descr="05_floor_vs_m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081" y="1737360"/>
            <a:ext cx="3362158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Girls lead on 10 of 11 competencies, and it survives the participation check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766560" cy="3127248"/>
          </a:xfrm>
          <a:prstGeom prst="roundRect">
            <a:avLst>
              <a:gd name="adj" fmla="val 1754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340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Girls minus boys, in percentage points, by competency, ordered easiest to hardest.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0960" y="178308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7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+2.0pp overall; Cohen's d = 0.07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2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lead: multiplication +3.6pp; only exception: measurement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  <a:p>
            <a:r>
              <a:rPr sz="1400">
                <a:latin typeface="Calibri"/>
              </a:rPr>
              <a:t>Districts with balanced boy-girl coverage: girls +3.6pp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Where girls are over-assessed the lead SHRINKS (r = -0.47),</a:t>
            </a:r>
          </a:p>
          <a:p>
            <a:r>
              <a:rPr sz="1400">
                <a:latin typeface="Calibri"/>
              </a:rPr>
              <a:t>so participation deflates the gap, it does not inflate it</a:t>
            </a:r>
          </a:p>
        </p:txBody>
      </p:sp>
      <p:sp>
        <p:nvSpPr>
          <p:cNvPr id="9" name="Shape 7"/>
          <p:cNvSpPr/>
          <p:nvPr/>
        </p:nvSpPr>
        <p:spPr>
          <a:xfrm>
            <a:off x="640080" y="5010912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3B47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5102352"/>
            <a:ext cx="10369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Real but small. Protect girls' momentum through the multiplicative wall; do not build a flagship programme on d = 0.07.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outputs/tables/gender_by_competency.csv · gender_overall.csv · item_analysis.csv (gender DIF)</a:t>
            </a:r>
            <a:endParaRPr lang="en-US" sz="900" dirty="0"/>
          </a:p>
        </p:txBody>
      </p:sp>
      <p:pic>
        <p:nvPicPr>
          <p:cNvPr id="12" name="Picture 11" descr="04_gender_by_compe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584" y="1737360"/>
            <a:ext cx="5995551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5  ·  CROSS-DATASET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surveys agree with our map, and some places beat their conditions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760720" cy="3127248"/>
          </a:xfrm>
          <a:prstGeom prst="roundRect">
            <a:avLst>
              <a:gd name="adj" fmla="val 1754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340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predicted score. Predicted from Census 2011, NFHS-5 and UDISE+ conditions.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766560" y="178308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rural against rural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ASER 2024 district arithmetic: rho = 0.56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PARAKH RS 2024 govt-school maths: rho = 0.51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1B7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  <a:p>
            <a:r>
              <a:rPr sz="1400">
                <a:latin typeface="Calibri"/>
              </a:rPr>
              <a:t>Byndoor block: +31.5pp above prediction</a:t>
            </a:r>
          </a:p>
          <a:p>
            <a:r>
              <a:rPr sz="1400">
                <a:latin typeface="Calibri"/>
              </a:rPr>
              <a:t>Bright spots cluster: Belagavi holds 6 of 22 (p = 0.02)</a:t>
            </a:r>
          </a:p>
        </p:txBody>
      </p:sp>
      <p:sp>
        <p:nvSpPr>
          <p:cNvPr id="9" name="Shape 7"/>
          <p:cNvSpPr/>
          <p:nvPr/>
        </p:nvSpPr>
        <p:spPr>
          <a:xfrm>
            <a:off x="640080" y="5010912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3B47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5102352"/>
            <a:ext cx="10369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Trust the map. Send the CRP cadre to Byndoor and Belagavi's bright blocks with a checklist, then replicate what they find.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Census 2011 PCA (data.gov.in) · NFHS-5 district fact sheets · UDISE+ 2024-25 · ASER 2024 · PGI-D 2025-26.</a:t>
            </a:r>
            <a:endParaRPr lang="en-US" sz="900" dirty="0"/>
          </a:p>
        </p:txBody>
      </p:sp>
      <p:pic>
        <p:nvPicPr>
          <p:cNvPr id="12" name="Picture 11" descr="06_bright_sp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729" y="1737360"/>
            <a:ext cx="3615421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triage list an education officer can act on Monday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1755648"/>
          </a:xfrm>
          <a:prstGeom prst="roundRect">
            <a:avLst>
              <a:gd name="adj" fmla="val 3125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Triage Score
</a:t>
            </a: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gap  ×  children affected  ×  tractability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blocks by where effort buys the most learning rather than by raw score. Tractability rises where the shortfall looks like teacher supply or inputs rather than deep poverty alone.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363931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78561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model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features only; CV RMSE 10.5pp, R² 0.49 (1,939 GPs)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315968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data did not beat the same-as-last-year baseline. We say so, and ship the honest model.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0" y="1737360"/>
            <a:ext cx="5120640" cy="3127248"/>
          </a:xfrm>
          <a:prstGeom prst="roundRect">
            <a:avLst>
              <a:gd name="adj" fmla="val 1754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7340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30266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33192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25 blocks by triage priority. Live and filterable in dashboard.html.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5010912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3B4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5102352"/>
            <a:ext cx="10369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  One HTML file, no login, no licence: dashboard.html runs offline from the repo, filterable by district and block.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outputs/dashboard.html · outputs/tables/triage_block.csv · early_warning_watchlist_block.csv · model_card.json</a:t>
            </a:r>
            <a:endParaRPr lang="en-US" sz="900" dirty="0"/>
          </a:p>
        </p:txBody>
      </p:sp>
      <p:pic>
        <p:nvPicPr>
          <p:cNvPr id="17" name="Picture 16" descr="07_tri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393" y="1737360"/>
            <a:ext cx="2625454" cy="31272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things, each with an owner and a date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1B546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31136"/>
            <a:ext cx="438912" cy="4389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311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116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teachers to grade 4-6 PTR, Kalyana Karnataka first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43230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KK PTR is 35.6 vs 21.8 elsewhere and the gap widened to -15.8pp. Target: PTR under 30 in the 7 districts by June 2028.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0" y="22128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Commissioner DSEL + KKRDB  ·  2027-28 transfer cycle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1B5462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48456"/>
            <a:ext cx="438912" cy="4389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484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4290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remediation on multiplication-division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54480" y="384962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5-6, inside Kalika Balavardhane, Term 2 2026-27. Success: G6 multiplication from 35.1% to 45% by the next round.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98080" y="36301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DSERT via BEO + CRP cadre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1B54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065776"/>
            <a:ext cx="438912" cy="4389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Floor Index in every review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54480" y="526694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columns added to the existing format: 10th-percentile score and coverage. Cost: nil.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498080" y="50474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Samagra Shiksha MIS cell  ·  next quarterly review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COULD BE WRONG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things we would check before acting on this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school identifier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design. So we cannot separate a weak school from a weak community. All within-GP variation is unattributed.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Covariate vintage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37960" y="2359152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is 2011, NFHS-5 is 2019-21, assessment is 2022-25. We treat these as slow-moving structural conditions, stated per table.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977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children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4370832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Cohorts are synthetic: same place, same cohort, different individuals. Composition can shift.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379476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F6F9F9"/>
          </a:solidFill>
          <a:ln w="12700">
            <a:solidFill>
              <a:srgbClr val="DCEA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977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37.8%, not a census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37960" y="4370832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is voluntary and doubled over three years (25.1% to 49.9%). We quantified selection six ways, adjusted every league table for it, and it cannot explain the G6 decline. Denominator reconciles to the cross-validated UDISE file.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08990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numeric claim in this deck is listed in claims.json with the file and row that proves it.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572000" cy="4572000"/>
          </a:xfrm>
          <a:prstGeom prst="ellipse">
            <a:avLst/>
          </a:prstGeom>
          <a:solidFill>
            <a:srgbClr val="1B5462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219456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the remedial block at the multiplicative step in grades 5-6, this academic year.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280160" y="3977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Kalaburagi child who can add is still in the room. Reach her before division leaves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5943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github.com/common-del/datathon_csf   ·   Team datathon_csf   ·   Reproduce with: python src/run_all.py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2026-07-31T08:30:44Z</dcterms:created>
  <dcterms:modified xsi:type="dcterms:W3CDTF">2026-07-31T08:30:44Z</dcterms:modified>
</cp:coreProperties>
</file>