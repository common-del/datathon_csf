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90A15E-985D-4AA8-A540-2A291D1CD3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D781F5F-14A5-409E-9634-CCAF17ECA5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A3149C-A080-4EFE-B67A-2B907137FC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26531EC-A1E2-4208-9A4D-97B7D75D4F8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234F97-EC7B-4B10-993E-A13B0F6BB8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DD3E15-234B-44F3-9FFA-CBDDA307A2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A097327-B913-4099-B5FC-F494AF9E2F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A1CDF0-79E9-4705-A226-45705F9E3C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9C6C4F-C0A8-464D-85ED-8F0AB1DFC76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A8C65F-BC4C-45D6-9D9D-817F4EFD05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5D8ACF-03AD-49FD-BDF1-9136BEE7C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Team &amp; Solution Overview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Box 4"/>
          <p:cNvSpPr/>
          <p:nvPr/>
        </p:nvSpPr>
        <p:spPr>
          <a:xfrm>
            <a:off x="731520" y="1097280"/>
            <a:ext cx="11570132" cy="162976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Team name</a:t>
            </a:r>
            <a:r>
              <a:rPr lang="en-US" sz="2000" dirty="0">
                <a:solidFill>
                  <a:schemeClr val="dk1"/>
                </a:solidFill>
              </a:rPr>
              <a:t> –</a:t>
            </a: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2000" b="0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Datathon_CSF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Members – Kapil, Susmit, and Aniket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Challenge area –  Prepare Policy level insights from large-scale student assessments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One-line solution – Identify competencies and geographies to anchor numeracy interventions at school level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• Contact – Central Square Foundation</a:t>
            </a:r>
            <a:endParaRPr lang="en-IN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828800" y="278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Problem Statement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4"/>
          <p:cNvSpPr/>
          <p:nvPr/>
        </p:nvSpPr>
        <p:spPr>
          <a:xfrm>
            <a:off x="731520" y="1097280"/>
            <a:ext cx="107289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Educational challenge: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Karnataka's rural government-school children in Grades 4-6 take an annual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maths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contest, but scores are falling in the upper grades and it was unclear where, by how much, or whether it reflects real learning loss versus who happened to get tested.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Objectives: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Confirm whether the decline is genuine and not a participation artefact; find where in the state and in which competencies the problem concentrates; identify inputs and geographies that can actually be targeted.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Key questions: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Did scores really fall, or did the assessment simply reach weaker children over time? Which grade and competencies drive the decline? Where does the learning gap physically live — district, block, cluster, or GP? Does gender or region explain the pattern?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Why it matters: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1.38 million assessment records across three years is one of the largest rural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maths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datasets available for Karnataka — getting the diagnosis right determines whether remediation money reaches the right grade, competency, and geography</a:t>
            </a:r>
            <a:r>
              <a:rPr sz="1300" b="0" dirty="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6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828800" y="353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Dataset Understanding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4"/>
          <p:cNvSpPr/>
          <p:nvPr/>
        </p:nvSpPr>
        <p:spPr>
          <a:xfrm>
            <a:off x="731520" y="1097280"/>
            <a:ext cx="107289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Dataset summary: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1,379,087 assessment records from Akshara Foundation's Gram Panchayat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Maths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Contest, rural State Government schools only, Grades 4-6, across three academic years (2022-23 to 2024-25).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Variables: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Gender, Grade, Year; full geography hierarchy (District, Block, Cluster, GP); 11 competency scores (Number Sense, Place Value, Addition, Subtraction, Multiplication, Division, Fractions, Measurement, Shapes/Geometry, Data Handling, Mensuration); Total Score and Score %.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Cleaning: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Headers standardized, Year/Grade typed as ordered categories, geography strings normalized. Duplicate rows are kept, since no persistent student ID exists. Competency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NaNs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are treated as structural (item absent from that year's/grade's 20-question set), not random missingness.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Assumptions: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No school identifier by design, so within-GP variation stays unattributed. GP and Cluster do not nest cleanly (1,718 GP IDs span more than one cluster). Items change every year within a constant competency framework, so cross-year claims are made at competency level, never as raw item-score gains.</a:t>
            </a:r>
          </a:p>
        </p:txBody>
      </p:sp>
      <p:sp>
        <p:nvSpPr>
          <p:cNvPr id="66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Analytical Approach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4"/>
          <p:cNvSpPr/>
          <p:nvPr/>
        </p:nvSpPr>
        <p:spPr>
          <a:xfrm>
            <a:off x="731520" y="1097280"/>
            <a:ext cx="109626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Workflow: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Load and type the raw files → reconcile against UDISE+ enrolment to establish participation coverage → descriptive cuts across Year/Grade/Gender/District/Block/Cluster/GP → test the decline against 36 explicit hypotheses → model competency-to-score relationships → triangulate against ASER and PARAKH.</a:t>
            </a:r>
            <a:endParaRPr lang="en-IN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Methods: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Nested variance decomposition; Cohen's d effect sizes for every year-pair and competency; a fixed-GP panel (GPs present in all three years) to rule out “the assessment reached weaker children”; Spearman correlation against two independent external assessments.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Models: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Univariate and standardized multivariate linear regression of Total Score on all 11 competencies (R² = 0.989); Random Forest as a non-linear cross-check (R² = 0.953, train); a GP-level early-warning model using only prior-year persistence features.</a:t>
            </a:r>
          </a:p>
        </p:txBody>
      </p:sp>
      <p:sp>
        <p:nvSpPr>
          <p:cNvPr id="68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1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Finding: </a:t>
            </a:r>
            <a:r>
              <a:rPr b="0" dirty="0">
                <a:solidFill>
                  <a:srgbClr val="000000"/>
                </a:solidFill>
                <a:latin typeface="Calibri"/>
              </a:rPr>
              <a:t>Grade 6 multiplication fell from 51.0% to 35.1%, division from 55.0% to 37.6%. The grade gradient inverted — Class 6 children now score lower than Class 4, the opposite of a normal learning trajectory.</a:t>
            </a:r>
            <a:endParaRPr lang="en-IN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Evidence: </a:t>
            </a:r>
            <a:r>
              <a:rPr b="0" dirty="0">
                <a:solidFill>
                  <a:srgbClr val="000000"/>
                </a:solidFill>
                <a:latin typeface="Calibri"/>
              </a:rPr>
              <a:t>Reproduced by an independent, code-isolated figure pipeline; survives the fixed-GP panel test (decline is larger inside the panel, -19.7pp/-22.0pp, not smaller); corroborated by three methods — the raw grade trend, the competency correlation structure, and year-over-year Cohen's d.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Interpretation: </a:t>
            </a:r>
            <a:r>
              <a:rPr b="0" dirty="0">
                <a:solidFill>
                  <a:srgbClr val="000000"/>
                </a:solidFill>
                <a:latin typeface="Calibri"/>
              </a:rPr>
              <a:t>Not a sampling artefact or a one-off dip — a genuine, persistent, multiplicative-reasoning-specific decline concentrated in the oldest tested grade, and the load-bearing part of the assessment itself.</a:t>
            </a:r>
          </a:p>
        </p:txBody>
      </p:sp>
      <p:sp>
        <p:nvSpPr>
          <p:cNvPr id="7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  <p:pic>
        <p:nvPicPr>
          <p:cNvPr id="71" name="Picture 7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802" y="2123440"/>
            <a:ext cx="5369198" cy="227784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900000" y="4447001"/>
            <a:ext cx="4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  <a:latin typeface="Calibri"/>
              </a:rPr>
              <a:t>Grade gradient inversion, 2022-23 vs 2024-25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Key Insight 2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Finding: </a:t>
            </a:r>
            <a:r>
              <a:rPr b="0" dirty="0">
                <a:solidFill>
                  <a:srgbClr val="000000"/>
                </a:solidFill>
                <a:latin typeface="Calibri"/>
              </a:rPr>
              <a:t>The seven Article 371J Kalyana Karnataka districts score 13.3pp below the rest of the state, occupy the entire bottom ten of thirty-one districts, and the gap is widening: -10.0pp → -11.9pp → -15.8pp across the three years.</a:t>
            </a:r>
            <a:endParaRPr lang="en-IN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Evidence: </a:t>
            </a:r>
            <a:r>
              <a:rPr b="0" dirty="0">
                <a:solidFill>
                  <a:srgbClr val="000000"/>
                </a:solidFill>
                <a:latin typeface="Calibri"/>
              </a:rPr>
              <a:t>Controlling for pupil-teacher ratio, adult literacy, and early-childhood stunting shrinks the gap from 13.3pp to 4.8pp. Kalyana Karnataka runs 33.6 children per teacher against 20.4 elsewhere, and has less than half the internet connectivity (16.9% vs 39.2%).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Implications: </a:t>
            </a:r>
            <a:r>
              <a:rPr b="0" dirty="0">
                <a:solidFill>
                  <a:srgbClr val="000000"/>
                </a:solidFill>
                <a:latin typeface="Calibri"/>
              </a:rPr>
              <a:t>Most of the gap is explained by measurable, changeable resourcing inputs, not an unexplained regional effect — making teacher-deployment rebalancing directly actionable, and the widening trend means the window to act is closing.</a:t>
            </a:r>
          </a:p>
        </p:txBody>
      </p:sp>
      <p:sp>
        <p:nvSpPr>
          <p:cNvPr id="7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  <p:pic>
        <p:nvPicPr>
          <p:cNvPr id="73" name="Picture 72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416" y="2439573"/>
            <a:ext cx="5419584" cy="1693454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900000" y="4178746"/>
            <a:ext cx="4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  <a:latin typeface="Calibri"/>
              </a:rPr>
              <a:t>Kalyana Karnataka vs rest: PTR &amp;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828800" y="25164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Predictive / Diagnostic Analysis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• Model: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Univariate correlation, standardized multivariate regression, and Random Forest on the 11 competency scores; plus a GP-level early-warning model using only same-as-last-year persistence features, since GP-level external joins fail the reliability gate.</a:t>
            </a:r>
            <a:endParaRPr lang="en-IN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• Metrics: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Multivariate R² = 0.989; Random Forest R² = 0.953 (train, diagnostic only); early-warning GP model cv RMSE = 10.5pp, R² = 0.49 across 1,939 GPs — no engineered feature beat the simple persistence baseline.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• Important predictors: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Measurement and Division dominate every method that sees them cleanly (r = 0.78 / 0.76 univariate; Division alone carries 53.5% of Random Forest importance). Place Value, Fractions, and Data Handling rank lowest — an artefact of missing data, not low importance.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600" b="1" dirty="0">
                <a:solidFill>
                  <a:srgbClr val="000000"/>
                </a:solidFill>
                <a:latin typeface="Calibri"/>
              </a:rPr>
              <a:t>• Early warning: </a:t>
            </a:r>
            <a:r>
              <a:rPr sz="1600" b="0" dirty="0">
                <a:solidFill>
                  <a:srgbClr val="000000"/>
                </a:solidFill>
                <a:latin typeface="Calibri"/>
              </a:rPr>
              <a:t>A GP's own prior-year score is the single best predictor of its next-year score. Reported honestly as a baseline, not a breakthrough — no feature set beat it.</a:t>
            </a:r>
          </a:p>
        </p:txBody>
      </p:sp>
      <p:sp>
        <p:nvSpPr>
          <p:cNvPr id="7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  <p:pic>
        <p:nvPicPr>
          <p:cNvPr id="75" name="Picture 7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000" y="1408971"/>
            <a:ext cx="4800000" cy="394825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900000" y="5402949"/>
            <a:ext cx="4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  <a:latin typeface="Calibri"/>
              </a:rPr>
              <a:t>Competency correlation with Total Score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Visualization / Dashboard</a:t>
            </a:r>
            <a:br>
              <a:rPr sz="4400" dirty="0"/>
            </a:br>
            <a:endParaRPr lang="en-US" sz="4400" b="0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731520" y="1097280"/>
            <a:ext cx="548604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Dashboard screenshots: </a:t>
            </a:r>
            <a:r>
              <a:rPr b="0" dirty="0">
                <a:solidFill>
                  <a:srgbClr val="000000"/>
                </a:solidFill>
                <a:latin typeface="Calibri"/>
              </a:rPr>
              <a:t>A static, reproducible chart suite (18 figures) built directly into the report — no separate interactive dashboard, so every number stays traceable to one script rather than a black-box front end.</a:t>
            </a:r>
            <a:endParaRPr lang="en-IN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KPIs: </a:t>
            </a:r>
            <a:r>
              <a:rPr b="0" dirty="0">
                <a:solidFill>
                  <a:srgbClr val="000000"/>
                </a:solidFill>
                <a:latin typeface="Calibri"/>
              </a:rPr>
              <a:t>37.8% overall participation (25.1% → 49.9%); 78.1% of score variance sits within Gram Panchayats; 13.3pp Kalyana Karnataka gap; ρ = 0.56 (ASER) and ρ = 0.51 (PARAKH) external validation.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b="1" dirty="0">
                <a:solidFill>
                  <a:srgbClr val="000000"/>
                </a:solidFill>
                <a:latin typeface="Calibri"/>
              </a:rPr>
              <a:t>• Maps/Charts: </a:t>
            </a:r>
            <a:r>
              <a:rPr b="0" dirty="0">
                <a:solidFill>
                  <a:srgbClr val="000000"/>
                </a:solidFill>
                <a:latin typeface="Calibri"/>
              </a:rPr>
              <a:t>Variance-decomposition bar chart; year-over-year competency effect-size heatmap; district/block coverage tables; Kalyana Karnataka resourcing comparisons; competency correlation heatmap; bright-spot residual maps for over/under-performing blocks.</a:t>
            </a:r>
          </a:p>
        </p:txBody>
      </p:sp>
      <p:sp>
        <p:nvSpPr>
          <p:cNvPr id="77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  <p:pic>
        <p:nvPicPr>
          <p:cNvPr id="78" name="Picture 77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8560" y="1146164"/>
            <a:ext cx="4800000" cy="237265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834720" y="3643320"/>
            <a:ext cx="4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 dirty="0">
                <a:solidFill>
                  <a:srgbClr val="595959"/>
                </a:solidFill>
                <a:latin typeface="Calibri"/>
              </a:rPr>
              <a:t>Where score variance actually lives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FEE786-ADAD-352D-1FDB-30444D615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684" y="3943320"/>
            <a:ext cx="5201752" cy="224190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1828800" y="3088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Recommendations and Road Map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457200" y="274320"/>
            <a:ext cx="184320" cy="52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28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4"/>
          <p:cNvSpPr/>
          <p:nvPr/>
        </p:nvSpPr>
        <p:spPr>
          <a:xfrm>
            <a:off x="731520" y="1097280"/>
            <a:ext cx="107289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1300" b="1" dirty="0">
                <a:solidFill>
                  <a:srgbClr val="000000"/>
                </a:solidFill>
                <a:latin typeface="Calibri"/>
              </a:rPr>
              <a:t>• </a:t>
            </a:r>
            <a:r>
              <a:rPr sz="2000" b="1" dirty="0">
                <a:solidFill>
                  <a:srgbClr val="000000"/>
                </a:solidFill>
                <a:latin typeface="Calibri"/>
              </a:rPr>
              <a:t>Priority actions: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(1) Rebalance teacher deployment to Grade 4-6 PTR in the 7 Kalyana Karnataka districts — Commissioner DSEL with KKRDB, by the 2027-28 transfer cycle. (2) Sequence multiplicative-ladder remediation for Grades 5-6</a:t>
            </a:r>
            <a:r>
              <a:rPr lang="en-IN" sz="2000" b="0" dirty="0">
                <a:solidFill>
                  <a:srgbClr val="000000"/>
                </a:solidFill>
                <a:latin typeface="Calibri"/>
              </a:rPr>
              <a:t> (</a:t>
            </a:r>
            <a:r>
              <a:rPr lang="en-US" sz="2000" b="0" dirty="0">
                <a:solidFill>
                  <a:srgbClr val="000000"/>
                </a:solidFill>
                <a:latin typeface="Calibri"/>
              </a:rPr>
              <a:t>3) Add 10th-percentile score and coverage to every review table, next quarterly review</a:t>
            </a:r>
            <a:r>
              <a:rPr lang="en-IN" sz="2000" b="0" dirty="0">
                <a:solidFill>
                  <a:srgbClr val="000000"/>
                </a:solidFill>
                <a:latin typeface="Calibri"/>
              </a:rPr>
              <a:t>.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Impact: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Action 1 targets PTR under 30 in the 7 districts by June 2028; Action 2 targets Grade 6 multiplication recovering from 35.1% to above 45% by the 2026-27 round</a:t>
            </a:r>
            <a:r>
              <a:rPr lang="en-US" sz="2000" b="0" dirty="0">
                <a:solidFill>
                  <a:srgbClr val="000000"/>
                </a:solidFill>
                <a:latin typeface="Calibri"/>
              </a:rPr>
              <a:t>; Action 3 ensures no district ranking is ever published without its coverage and floor beside it.</a:t>
            </a:r>
            <a:endParaRPr sz="2000" b="0" dirty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Feasibility: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All three build on existing infrastructure — the GPSTR teacher pipeline already placed 11,494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joinees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in 2023-24, Kalika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Balavardhane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already exists as a delivery channel, and Action 3 costs nil since it only adds two columns to reports already produced.</a:t>
            </a:r>
          </a:p>
        </p:txBody>
      </p:sp>
      <p:sp>
        <p:nvSpPr>
          <p:cNvPr id="80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Innovation &amp; Impact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731520" y="1097280"/>
            <a:ext cx="107289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Novelty: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Treated “the assessment just reached weaker children” as a null hypothesis and tested it six independent ways; used a fixed-GP panel design to strip out participation-composition effects; built an automatic reliability gate that refuses low-quality external joins; reported the team's own pipeline bugs and their exact numeric impact rather than quietly fixing them.</a:t>
            </a:r>
            <a:endParaRPr lang="en-IN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Scalability: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The panel-and-gate methodology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generalises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to any multi-year assessment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programme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with changing participation; the competency-correlation and variance-decomposition pipeline reruns on future contest rounds with zero changes.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Limitations: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No school identifier, so within-GP variation can't be attributed to specific schools; GP-level external covariates are excluded outright (37% match, below the 60% gate); no raw item-score gain claims, only competency-level statements; all findings are observational, not causal.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000" b="1" dirty="0">
                <a:solidFill>
                  <a:srgbClr val="000000"/>
                </a:solidFill>
                <a:latin typeface="Calibri"/>
              </a:rPr>
              <a:t>• Expected impact: 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A measurable Grade 6 multiplicative-reasoning recovery within one contest cycle if Action 2 succeeds; a narrowing 13.3pp regional gap over subsequent cycles if Action 1 succeeds; </a:t>
            </a:r>
            <a:r>
              <a:rPr sz="2000" b="0" dirty="0" err="1">
                <a:solidFill>
                  <a:srgbClr val="000000"/>
                </a:solidFill>
                <a:latin typeface="Calibri"/>
              </a:rPr>
              <a:t>institutionalised</a:t>
            </a:r>
            <a:r>
              <a:rPr sz="2000" b="0" dirty="0">
                <a:solidFill>
                  <a:srgbClr val="000000"/>
                </a:solidFill>
                <a:latin typeface="Calibri"/>
              </a:rPr>
              <a:t> coverage-aware reporting so this analytical trap doesn't recur.</a:t>
            </a:r>
          </a:p>
        </p:txBody>
      </p:sp>
      <p:sp>
        <p:nvSpPr>
          <p:cNvPr id="82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828800" y="2260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0000"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Conclusion &amp; Key Takeaways</a:t>
            </a:r>
            <a:br>
              <a:rPr sz="4400"/>
            </a:b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4"/>
          <p:cNvSpPr/>
          <p:nvPr/>
        </p:nvSpPr>
        <p:spPr>
          <a:xfrm>
            <a:off x="731520" y="1097280"/>
            <a:ext cx="1072896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noAutofit/>
          </a:bodyPr>
          <a:lstStyle/>
          <a:p>
            <a:pPr defTabSz="457200">
              <a:lnSpc>
                <a:spcPct val="100000"/>
              </a:lnSpc>
              <a:spcAft>
                <a:spcPts val="1000"/>
              </a:spcAft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• Top takeaways: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Grade 6 multiplicative reasoning has genuinely collapsed, confirmed by three independent methods. The learning gap lives mostly inside Gram Panchayats (78.1% of variance), not between districts. Kalyana Karnataka's 13.3pp gap is a resourcing problem, and it's widening. Gender is real but small. Two external assessments corroborate the district-level map.</a:t>
            </a:r>
            <a:endParaRPr lang="en-IN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2400" b="1" dirty="0">
                <a:solidFill>
                  <a:srgbClr val="000000"/>
                </a:solidFill>
                <a:latin typeface="Calibri"/>
              </a:rPr>
              <a:t>• Next steps: </a:t>
            </a:r>
            <a:r>
              <a:rPr sz="2400" b="0" dirty="0">
                <a:solidFill>
                  <a:srgbClr val="000000"/>
                </a:solidFill>
                <a:latin typeface="Calibri"/>
              </a:rPr>
              <a:t>Implement the three recommendations against their stated owners and dates; re-run the fixed-GP-panel check on next year's data before declaring any recovery real; extend the reliability-gated covariate framework to GP level once better-matched inputs exist.</a:t>
            </a:r>
          </a:p>
        </p:txBody>
      </p:sp>
      <p:sp>
        <p:nvSpPr>
          <p:cNvPr id="84" name="EvalFooter"/>
          <p:cNvSpPr txBox="1"/>
          <p:nvPr/>
        </p:nvSpPr>
        <p:spPr>
          <a:xfrm>
            <a:off x="457200" y="6217920"/>
            <a:ext cx="8229600" cy="2462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/>
            </a:pPr>
            <a:r>
              <a:rPr lang="en-US" sz="1000" dirty="0"/>
              <a:t>Evaluation: Depth of analysis | Policy relevance | Cross-dataset analysis | Innovation | Clarity of insights | Visualisation &amp;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A86018-CC22-D1CF-F39D-553FDA2CF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0000"/>
                </a:solidFill>
              </a:rPr>
              <a:t>Thank you</a:t>
            </a:r>
            <a:br>
              <a:rPr lang="en-IN" dirty="0">
                <a:solidFill>
                  <a:srgbClr val="000000"/>
                </a:solidFill>
              </a:rPr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9730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1872</Words>
  <Application>Microsoft Office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Symbol</vt:lpstr>
      <vt:lpstr>Times New Roman</vt:lpstr>
      <vt:lpstr>Wingdings</vt:lpstr>
      <vt:lpstr>Office Theme</vt:lpstr>
      <vt:lpstr>Team &amp; Solution Overview </vt:lpstr>
      <vt:lpstr>Problem Statement </vt:lpstr>
      <vt:lpstr>Dataset Understanding </vt:lpstr>
      <vt:lpstr>Analytical Approach </vt:lpstr>
      <vt:lpstr>Key Insight 1 </vt:lpstr>
      <vt:lpstr>Key Insight 2 </vt:lpstr>
      <vt:lpstr>Predictive / Diagnostic Analysis </vt:lpstr>
      <vt:lpstr>Visualization / Dashboard </vt:lpstr>
      <vt:lpstr>Recommendations and Road Map </vt:lpstr>
      <vt:lpstr>Innovation &amp; Impact </vt:lpstr>
      <vt:lpstr>Conclusion &amp; Key Takeaways </vt:lpstr>
      <vt:lpstr>Thank you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&amp; Solution Overview</dc:title>
  <dc:subject/>
  <dc:creator>CSF</dc:creator>
  <dc:description>generated using python-pptx</dc:description>
  <cp:lastModifiedBy>RMEAL1</cp:lastModifiedBy>
  <cp:revision>7</cp:revision>
  <dcterms:created xsi:type="dcterms:W3CDTF">2013-01-27T09:14:16Z</dcterms:created>
  <dcterms:modified xsi:type="dcterms:W3CDTF">2026-08-01T13:30:10Z</dcterms:modified>
  <dc:language>en-IN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12</vt:i4>
  </property>
</Properties>
</file>